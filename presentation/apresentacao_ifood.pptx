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Efeito (p.p.)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3141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Desc. 5/20 · 10d</c:v>
                  </c:pt>
                  <c:pt idx="1">
                    <c:v>BOGO 5 · 7d *</c:v>
                  </c:pt>
                  <c:pt idx="2">
                    <c:v>Desc. 2/10 · 7d *</c:v>
                  </c:pt>
                  <c:pt idx="3">
                    <c:v>BOGO 5 · 5d</c:v>
                  </c:pt>
                  <c:pt idx="4">
                    <c:v>BOGO 10 · 5d</c:v>
                  </c:pt>
                  <c:pt idx="5">
                    <c:v>BOGO 10 · 7d</c:v>
                  </c:pt>
                  <c:pt idx="6">
                    <c:v>Desc. 3/7 · 7d</c:v>
                  </c:pt>
                  <c:pt idx="7">
                    <c:v>Desc. 2/10 · 10d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-1.9</c:v>
                </c:pt>
                <c:pt idx="1">
                  <c:v>0.4</c:v>
                </c:pt>
                <c:pt idx="2">
                  <c:v>0.6</c:v>
                </c:pt>
                <c:pt idx="3">
                  <c:v>6</c:v>
                </c:pt>
                <c:pt idx="4">
                  <c:v>6.2</c:v>
                </c:pt>
                <c:pt idx="5">
                  <c:v>6.5</c:v>
                </c:pt>
                <c:pt idx="6">
                  <c:v>7.6</c:v>
                </c:pt>
                <c:pt idx="7">
                  <c:v>8.4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3141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3A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BDF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A5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08" y="384048"/>
            <a:ext cx="1033272" cy="5449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572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TÉCNICO DATA SCIENCE  ·  DISTRIBUIÇÃO DE CUPONS E OFERTAS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777240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cupom certo,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o cliente certo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02920" y="2240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Direcionamento de descontos pelo efeito incremental de cada oferta em cada cliente — 76 mil envios, 17 mil clientes.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2880360"/>
            <a:ext cx="2679192" cy="1783080"/>
          </a:xfrm>
          <a:prstGeom prst="roundRect">
            <a:avLst>
              <a:gd name="adj" fmla="val 3590"/>
            </a:avLst>
          </a:prstGeom>
          <a:solidFill>
            <a:srgbClr val="3A121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04088" y="30906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25,8%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04088" y="363931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D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ofertas completadas nunca foram vistas pelo cliente — desconto pago a quem já ia comprar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64992" y="2880360"/>
            <a:ext cx="2679192" cy="1783080"/>
          </a:xfrm>
          <a:prstGeom prst="roundRect">
            <a:avLst>
              <a:gd name="adj" fmla="val 3590"/>
            </a:avLst>
          </a:prstGeom>
          <a:solidFill>
            <a:srgbClr val="3A121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566160" y="30906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566160" y="363931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D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clientes fazem uma compra em 7 dias mesmo sem receber desconto algum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27064" y="2880360"/>
            <a:ext cx="2679192" cy="1783080"/>
          </a:xfrm>
          <a:prstGeom prst="roundRect">
            <a:avLst>
              <a:gd name="adj" fmla="val 3590"/>
            </a:avLst>
          </a:prstGeom>
          <a:solidFill>
            <a:srgbClr val="3A121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28232" y="30906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−R$ 12 mil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428232" y="363931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D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resultado de distribuir cupons indiscriminadamente, a cada 10 mil clientes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"/>
            <a:ext cx="868680" cy="4581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1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Medimos quem compra por causa do cupom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02920" y="8961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tipos de cliente diante da mesma oferta — só um deles justifica o desconto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572768" y="120700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cupom: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B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compraria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218688" y="120700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cupom: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B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compraria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084832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cupom: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6B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3584448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cupom: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6B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compra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572768" y="1627632"/>
            <a:ext cx="1572768" cy="1426464"/>
          </a:xfrm>
          <a:prstGeom prst="roundRect">
            <a:avLst>
              <a:gd name="adj" fmla="val 4487"/>
            </a:avLst>
          </a:prstGeom>
          <a:solidFill>
            <a:srgbClr val="99001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700784" y="1773936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Persuadível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700784" y="2176272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por causa do cupom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700784" y="276148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enviar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18688" y="1627632"/>
            <a:ext cx="1572768" cy="1426464"/>
          </a:xfrm>
          <a:prstGeom prst="roundRect">
            <a:avLst>
              <a:gd name="adj" fmla="val 4487"/>
            </a:avLst>
          </a:prstGeom>
          <a:solidFill>
            <a:srgbClr val="F9EDE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346704" y="1773936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garantida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346704" y="2176272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compraria de qualquer forma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346704" y="276148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6B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cupom vira subsídio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572768" y="3127248"/>
            <a:ext cx="1572768" cy="1426464"/>
          </a:xfrm>
          <a:prstGeom prst="roundRect">
            <a:avLst>
              <a:gd name="adj" fmla="val 4487"/>
            </a:avLst>
          </a:prstGeom>
          <a:solidFill>
            <a:srgbClr val="F9EDE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700784" y="3273552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Indiferente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700784" y="367588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desconto não muda nada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700784" y="426110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6B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não gastar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218688" y="3127248"/>
            <a:ext cx="1572768" cy="1426464"/>
          </a:xfrm>
          <a:prstGeom prst="roundRect">
            <a:avLst>
              <a:gd name="adj" fmla="val 4487"/>
            </a:avLst>
          </a:prstGeom>
          <a:solidFill>
            <a:srgbClr val="F9EDE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346704" y="3273552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negativo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3346704" y="367588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1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oferta atrapalha a compra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346704" y="426110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6B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nunca enviar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138928" y="1481328"/>
            <a:ext cx="3520440" cy="950976"/>
          </a:xfrm>
          <a:prstGeom prst="roundRect">
            <a:avLst>
              <a:gd name="adj" fmla="val 6731"/>
            </a:avLst>
          </a:prstGeom>
          <a:solidFill>
            <a:srgbClr val="F9EDE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321808" y="1591056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+24 p.p.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6419088" y="1591056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no décimo de clientes mais sensível — 55% deles nunca tinham comprado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138928" y="2560320"/>
            <a:ext cx="3520440" cy="950976"/>
          </a:xfrm>
          <a:prstGeom prst="roundRect">
            <a:avLst>
              <a:gd name="adj" fmla="val 6731"/>
            </a:avLst>
          </a:prstGeom>
          <a:solidFill>
            <a:srgbClr val="F9EDE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5321808" y="2670048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6419088" y="267004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no cliente frequente e recente: compraria de qualquer forma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138928" y="3639312"/>
            <a:ext cx="3520440" cy="950976"/>
          </a:xfrm>
          <a:prstGeom prst="roundRect">
            <a:avLst>
              <a:gd name="adj" fmla="val 6731"/>
            </a:avLst>
          </a:prstGeom>
          <a:solidFill>
            <a:srgbClr val="F9EDE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321808" y="37490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−1,9 p.p.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6419088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com mínimo alto e canal fraco: reduz a conversão e ainda paga desconto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02920" y="468172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sabemos: experimento com envio aleatório de ofertas  ·  testes placebo  ·  calibração em clientes fora do treino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"/>
            <a:ext cx="868680" cy="4581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1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 toda oferta gera venda incremental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02920" y="8961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de cada oferta sobre a conversão em 7 dias, em pontos percentuais vs. grupo sem desconto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298448"/>
          <a:ext cx="53035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02920" y="4617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Desc. X/Y = R$ X de desconto com pedido mínimo de R$ Y   ·   BOGO X = leve dois, pague um (R$ X)   ·   * ofertas sem push no canal social</a:t>
            </a:r>
            <a:endParaRPr lang="en-US" sz="950" dirty="0"/>
          </a:p>
        </p:txBody>
      </p:sp>
      <p:sp>
        <p:nvSpPr>
          <p:cNvPr id="7" name="Shape 3"/>
          <p:cNvSpPr/>
          <p:nvPr/>
        </p:nvSpPr>
        <p:spPr>
          <a:xfrm>
            <a:off x="5897880" y="1325880"/>
            <a:ext cx="2743200" cy="1078992"/>
          </a:xfrm>
          <a:prstGeom prst="roundRect">
            <a:avLst>
              <a:gd name="adj" fmla="val 5932"/>
            </a:avLst>
          </a:prstGeom>
          <a:solidFill>
            <a:srgbClr val="F9EDE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080760" y="141732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entrega decide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080760" y="1673352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ofertas sem push no canal social têm efeito ≈ zero: só 54% dos clientes chegam a vê-las.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897880" y="2532888"/>
            <a:ext cx="2743200" cy="1078992"/>
          </a:xfrm>
          <a:prstGeom prst="roundRect">
            <a:avLst>
              <a:gd name="adj" fmla="val 5932"/>
            </a:avLst>
          </a:prstGeom>
          <a:solidFill>
            <a:srgbClr val="F9EDE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080760" y="262432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oferta que destrói valor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080760" y="2880360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de R$ 20 com canal fraco reduz a conversão em 1,9 p.p. — e ainda paga desconto.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897880" y="3739896"/>
            <a:ext cx="2743200" cy="1078992"/>
          </a:xfrm>
          <a:prstGeom prst="roundRect">
            <a:avLst>
              <a:gd name="adj" fmla="val 5932"/>
            </a:avLst>
          </a:prstGeom>
          <a:solidFill>
            <a:srgbClr val="F9EDE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080760" y="383133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não cria hábito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080760" y="4087368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1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média, o cupom antecipa compras: a recompra após a oferta expirar fica levemente menor, não maior.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"/>
            <a:ext cx="868680" cy="4581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1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R$ 30 mil de diferença a cada 10 mil clientes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02920" y="8961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incremental líquido do custo dos descontos, estimado em clientes fora do treino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2679192" cy="1965960"/>
          </a:xfrm>
          <a:prstGeom prst="roundRect">
            <a:avLst>
              <a:gd name="adj" fmla="val 3256"/>
            </a:avLst>
          </a:prstGeom>
          <a:solidFill>
            <a:srgbClr val="99001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4088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direcionada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04088" y="18470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+R$ 17,3 mil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704088" y="245059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recebe a oferta de maior valor incremental — ou nenhuma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64992" y="1371600"/>
            <a:ext cx="2679192" cy="1965960"/>
          </a:xfrm>
          <a:prstGeom prst="roundRect">
            <a:avLst>
              <a:gd name="adj" fmla="val 3256"/>
            </a:avLst>
          </a:prstGeom>
          <a:solidFill>
            <a:srgbClr val="F9EDE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566160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oferta única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566160" y="18470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1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+R$ 14,8 mil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3566160" y="245059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oferta campeã enviada em massa, para toda a base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27064" y="1371600"/>
            <a:ext cx="2679192" cy="1965960"/>
          </a:xfrm>
          <a:prstGeom prst="roundRect">
            <a:avLst>
              <a:gd name="adj" fmla="val 3256"/>
            </a:avLst>
          </a:prstGeom>
          <a:solidFill>
            <a:srgbClr val="F9EDE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28232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ao acaso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28232" y="18470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1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−R$ 12,4 mil</a:t>
            </a:r>
            <a:endParaRPr lang="en-US" sz="3100" dirty="0"/>
          </a:p>
        </p:txBody>
      </p:sp>
      <p:sp>
        <p:nvSpPr>
          <p:cNvPr id="16" name="Text 13"/>
          <p:cNvSpPr/>
          <p:nvPr/>
        </p:nvSpPr>
        <p:spPr>
          <a:xfrm>
            <a:off x="6428232" y="245059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equivalente a espalhar as ofertas sem critério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2920" y="35661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política aloca os envios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2920" y="388620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325880" y="391363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campeã: R$ 2 de desconto,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de R$ 10, 10 dias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364992" y="388620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16%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4187952" y="391363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desconto 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efeito não paga o custo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227064" y="388620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13%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7050024" y="391363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distribuídos entre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demais ofertas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02920" y="4617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validados em experimento aleatorizado; confirmação final via teste A/B em produção (próximo slide).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6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08" y="384048"/>
            <a:ext cx="1033272" cy="5449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modelo à operação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307592"/>
            <a:ext cx="566928" cy="566928"/>
          </a:xfrm>
          <a:prstGeom prst="ellipse">
            <a:avLst/>
          </a:prstGeom>
          <a:solidFill>
            <a:srgbClr val="E8505B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1307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09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25880" y="12344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A/B da política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25880" y="157276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direcionada vs. regra atual, medindo conversão, margem líquida e recompra. Leitura em 4 a 6 semanas.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450592"/>
            <a:ext cx="566928" cy="566928"/>
          </a:xfrm>
          <a:prstGeom prst="ellipse">
            <a:avLst/>
          </a:prstGeom>
          <a:solidFill>
            <a:srgbClr val="E8505B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2450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09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325880" y="23774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retenção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325880" y="271576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Priorizar, entre os alvos, o terço de clientes em que o cupom também aumenta a recompra — e testar ofertas leves, as únicas que não reduzem a recompra.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3593592"/>
            <a:ext cx="566928" cy="566928"/>
          </a:xfrm>
          <a:prstGeom prst="ellipse">
            <a:avLst/>
          </a:prstGeom>
          <a:solidFill>
            <a:srgbClr val="E8505B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3593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09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325880" y="35204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em produção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325880" y="385876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A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incremental recalculado semanalmente por cliente, integrado ao CRM para decidir oferta, canal e momento do envio.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02920" y="4617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7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metodológica: experimento aleatorizado  ·  Double Machine Learning (floresta causal)  ·  testes placebo  ·  calibração em clientes fora do treino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Distribuição inteligente de ofertas — Case iFood</dc:title>
  <dc:subject>PptxGenJS Presentation</dc:subject>
  <dc:creator>Felipe</dc:creator>
  <cp:lastModifiedBy>Felipe</cp:lastModifiedBy>
  <cp:revision>1</cp:revision>
  <dcterms:created xsi:type="dcterms:W3CDTF">2026-07-06T14:09:59Z</dcterms:created>
  <dcterms:modified xsi:type="dcterms:W3CDTF">2026-07-06T14:09:59Z</dcterms:modified>
</cp:coreProperties>
</file>